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f6af9d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f6af9d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51d23597c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51d23597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51d9112a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51d9112a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d9c67055b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d9c67055b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517ab60d1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517ab60d1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51d9165c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51d9165c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17ab60d1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17ab60d1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517ab60d10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517ab60d1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17ab60d1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17ab60d1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5430e6bdd_5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5430e6bdd_5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517ab60d1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517ab60d1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17ab60d1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17ab60d1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d9c67055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1d9c67055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d9c67055b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d9c67055b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5430e6bdd_5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5430e6bdd_5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0" y="1"/>
            <a:ext cx="9144000" cy="4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5063224" y="1313339"/>
            <a:ext cx="3459829" cy="2670551"/>
            <a:chOff x="3553042" y="1657806"/>
            <a:chExt cx="3461100" cy="2671532"/>
          </a:xfrm>
        </p:grpSpPr>
        <p:sp>
          <p:nvSpPr>
            <p:cNvPr id="26" name="Google Shape;26;p3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fmla="val 96745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fmla="val 98558" name="adj"/>
              </a:avLst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fmla="val 5000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fmla="val 1882" name="adj"/>
              </a:avLst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fmla="val 1764" name="adj"/>
              </a:avLst>
            </a:pr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Component Detail" id="34" name="Google Shape;34;p3"/>
          <p:cNvPicPr preferRelativeResize="0"/>
          <p:nvPr/>
        </p:nvPicPr>
        <p:blipFill rotWithShape="1">
          <a:blip r:embed="rId2">
            <a:alphaModFix/>
          </a:blip>
          <a:srcRect b="25076" l="0" r="0" t="0"/>
          <a:stretch/>
        </p:blipFill>
        <p:spPr>
          <a:xfrm>
            <a:off x="5161725" y="1399791"/>
            <a:ext cx="3262825" cy="18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 flipH="1">
            <a:off x="5156196" y="1401826"/>
            <a:ext cx="3268577" cy="1812993"/>
          </a:xfrm>
          <a:prstGeom prst="rtTriangle">
            <a:avLst/>
          </a:prstGeom>
          <a:solidFill>
            <a:srgbClr val="000000">
              <a:alpha val="3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7666681" y="2077877"/>
            <a:ext cx="1148179" cy="2282764"/>
            <a:chOff x="7666681" y="2077877"/>
            <a:chExt cx="1148179" cy="2282764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7666681" y="2077877"/>
              <a:ext cx="1148179" cy="2282764"/>
              <a:chOff x="3983627" y="1676395"/>
              <a:chExt cx="1449538" cy="2881914"/>
            </a:xfrm>
          </p:grpSpPr>
          <p:sp>
            <p:nvSpPr>
              <p:cNvPr id="38" name="Google Shape;38;p3"/>
              <p:cNvSpPr/>
              <p:nvPr/>
            </p:nvSpPr>
            <p:spPr>
              <a:xfrm rot="-5400000">
                <a:off x="3276827" y="2404608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66666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5400000">
                <a:off x="3279465" y="2383195"/>
                <a:ext cx="2860500" cy="1446900"/>
              </a:xfrm>
              <a:prstGeom prst="roundRect">
                <a:avLst>
                  <a:gd fmla="val 4551" name="adj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473243" y="4318802"/>
                <a:ext cx="472800" cy="76800"/>
              </a:xfrm>
              <a:prstGeom prst="roundRect">
                <a:avLst>
                  <a:gd fmla="val 50000" name="adj"/>
                </a:avLst>
              </a:prstGeom>
              <a:solidFill>
                <a:srgbClr val="4B4B4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pic>
          <p:nvPicPr>
            <p:cNvPr descr="Mobile View" id="41" name="Google Shape;41;p3"/>
            <p:cNvPicPr preferRelativeResize="0"/>
            <p:nvPr/>
          </p:nvPicPr>
          <p:blipFill rotWithShape="1">
            <a:blip r:embed="rId3">
              <a:alphaModFix/>
            </a:blip>
            <a:srcRect b="4371" l="0" r="0" t="4362"/>
            <a:stretch/>
          </p:blipFill>
          <p:spPr>
            <a:xfrm>
              <a:off x="7720839" y="2222723"/>
              <a:ext cx="1037555" cy="1833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 flipH="1">
              <a:off x="7722342" y="2222973"/>
              <a:ext cx="1037700" cy="1833000"/>
            </a:xfrm>
            <a:prstGeom prst="rtTriangle">
              <a:avLst/>
            </a:prstGeom>
            <a:solidFill>
              <a:srgbClr val="000000">
                <a:alpha val="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5" name="Google Shape;45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" name="Google Shape;54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" name="Google Shape;64;p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5" name="Google Shape;65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" name="Google Shape;82;p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3" name="Google Shape;9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ide view of hands writing in a notebook at a cafe" id="100" name="Google Shape;100;p12"/>
          <p:cNvPicPr preferRelativeResize="0"/>
          <p:nvPr/>
        </p:nvPicPr>
        <p:blipFill rotWithShape="1">
          <a:blip r:embed="rId2">
            <a:alphaModFix/>
          </a:blip>
          <a:srcRect b="26446" l="9050" r="54351" t="12064"/>
          <a:stretch/>
        </p:blipFill>
        <p:spPr>
          <a:xfrm>
            <a:off x="1" y="-50"/>
            <a:ext cx="4572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2"/>
          <p:cNvSpPr/>
          <p:nvPr/>
        </p:nvSpPr>
        <p:spPr>
          <a:xfrm>
            <a:off x="1650" y="0"/>
            <a:ext cx="45687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8536300" y="474985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2">
  <p:cSld name="SECTION_TITLE_AND_DESCRIPTION_1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0" l="31883" r="25713" t="8096"/>
          <a:stretch/>
        </p:blipFill>
        <p:spPr>
          <a:xfrm>
            <a:off x="0" y="0"/>
            <a:ext cx="4575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-75" y="0"/>
            <a:ext cx="4572000" cy="5143500"/>
          </a:xfrm>
          <a:prstGeom prst="rect">
            <a:avLst/>
          </a:prstGeom>
          <a:solidFill>
            <a:srgbClr val="178D7D">
              <a:alpha val="680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3" name="Google Shape;113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4" name="Google Shape;12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1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type="ctrTitle"/>
          </p:nvPr>
        </p:nvSpPr>
        <p:spPr>
          <a:xfrm>
            <a:off x="739425" y="1199900"/>
            <a:ext cx="69051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Medical Image Computing</a:t>
            </a:r>
            <a:endParaRPr/>
          </a:p>
        </p:txBody>
      </p:sp>
      <p:sp>
        <p:nvSpPr>
          <p:cNvPr id="136" name="Google Shape;136;p17"/>
          <p:cNvSpPr txBox="1"/>
          <p:nvPr>
            <p:ph idx="1" type="subTitle"/>
          </p:nvPr>
        </p:nvSpPr>
        <p:spPr>
          <a:xfrm>
            <a:off x="806825" y="2023988"/>
            <a:ext cx="6187500" cy="8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Unsupervised Learning for Cell-level Visual Representation in Histopathology Images with GANS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5194" y="2983800"/>
            <a:ext cx="3155081" cy="19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176175" y="3788575"/>
            <a:ext cx="3479700" cy="1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Submitted by: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Aakash Gupta (23B0953)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Aditi Singh (23B1053)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Guide: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	Prof. Suyash Awate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44" name="Google Shape;144;p18"/>
          <p:cNvSpPr txBox="1"/>
          <p:nvPr>
            <p:ph idx="2" type="body"/>
          </p:nvPr>
        </p:nvSpPr>
        <p:spPr>
          <a:xfrm>
            <a:off x="4710700" y="1318650"/>
            <a:ext cx="4175700" cy="30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Motivation to the project: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Histopathological images crucial for diagnosing diseases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Used in many applications like classification, segmentation and counting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Lack of labelled data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</a:rPr>
              <a:t>High variability in morphology and inconsistent staining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Problem statement</a:t>
            </a:r>
            <a:endParaRPr sz="3000"/>
          </a:p>
        </p:txBody>
      </p:sp>
      <p:sp>
        <p:nvSpPr>
          <p:cNvPr id="150" name="Google Shape;150;p19"/>
          <p:cNvSpPr txBox="1"/>
          <p:nvPr>
            <p:ph idx="2" type="body"/>
          </p:nvPr>
        </p:nvSpPr>
        <p:spPr>
          <a:xfrm>
            <a:off x="4771900" y="145600"/>
            <a:ext cx="4201500" cy="179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“Given unlabelled histopathological images </a:t>
            </a:r>
            <a:r>
              <a:rPr b="1" lang="en" sz="1600">
                <a:solidFill>
                  <a:schemeClr val="dk1"/>
                </a:solidFill>
              </a:rPr>
              <a:t>with different variability, inconsistent staining and morphology, </a:t>
            </a:r>
            <a:r>
              <a:rPr b="1" lang="en" sz="1600">
                <a:solidFill>
                  <a:schemeClr val="dk1"/>
                </a:solidFill>
              </a:rPr>
              <a:t>performing unsupervised cell level visual representation using generative adversarial network.</a:t>
            </a:r>
            <a:r>
              <a:rPr b="1" lang="en" sz="1600">
                <a:solidFill>
                  <a:schemeClr val="dk1"/>
                </a:solidFill>
              </a:rPr>
              <a:t> “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027" y="1759850"/>
            <a:ext cx="3349251" cy="338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700">
                <a:solidFill>
                  <a:schemeClr val="lt1"/>
                </a:solidFill>
              </a:rPr>
              <a:t>1</a:t>
            </a:r>
            <a:endParaRPr b="1" sz="700">
              <a:solidFill>
                <a:schemeClr val="lt1"/>
              </a:solidFill>
            </a:endParaRPr>
          </a:p>
        </p:txBody>
      </p:sp>
      <p:sp>
        <p:nvSpPr>
          <p:cNvPr id="157" name="Google Shape;157;p20"/>
          <p:cNvSpPr txBox="1"/>
          <p:nvPr>
            <p:ph type="title"/>
          </p:nvPr>
        </p:nvSpPr>
        <p:spPr>
          <a:xfrm>
            <a:off x="360275" y="79000"/>
            <a:ext cx="6862500" cy="8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01</a:t>
            </a:r>
            <a:r>
              <a:rPr b="0" lang="en"/>
              <a:t> : USING GANS</a:t>
            </a:r>
            <a:endParaRPr b="0"/>
          </a:p>
        </p:txBody>
      </p:sp>
      <p:sp>
        <p:nvSpPr>
          <p:cNvPr id="158" name="Google Shape;158;p20"/>
          <p:cNvSpPr txBox="1"/>
          <p:nvPr>
            <p:ph idx="1" type="subTitle"/>
          </p:nvPr>
        </p:nvSpPr>
        <p:spPr>
          <a:xfrm>
            <a:off x="4688975" y="649901"/>
            <a:ext cx="4306500" cy="46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Architecture of Generator (Blackbox-G):</a:t>
            </a:r>
            <a:endParaRPr b="1" sz="1400"/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Dense layer (128*8*8), relu activation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Dense layer (256), LeakyRelLU followed by Batch Normalisation(momemtum=0.8)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Dense layer (512), LeakyRelLU+ BatchNorm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Dense layer (1024), LeakyRelLU+ BatchNorm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Output layer (equal to pizel), tanh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400"/>
              <a:t>Achitecture of Discriminator (Blackbox-D):</a:t>
            </a:r>
            <a:endParaRPr b="1" sz="1400"/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conv2D (128*8*8) Filters=32, kernels=3*3, strides=2,LeakyReLU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conv2D (128*8*8) Filters=64, kernels=3*3, strides=2,LeakyReLU + Dropout + BatchNorm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conv2D (128*8*8) Filters=128, kernels=3*3, strides=2,LeakyReLU + Dropout + BatchNorm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conv2D (128*8*8) Filters=256, kernels=3*3, strides=1,LeakyReLU + Dropout 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Flatten</a:t>
            </a:r>
            <a:endParaRPr sz="1200"/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Output: num_classes+1,softmax/sigmoid activation</a:t>
            </a:r>
            <a:endParaRPr sz="1200"/>
          </a:p>
        </p:txBody>
      </p:sp>
      <p:pic>
        <p:nvPicPr>
          <p:cNvPr id="159" name="Google Shape;15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25" y="1570891"/>
            <a:ext cx="4306500" cy="243838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/>
          <p:nvPr/>
        </p:nvSpPr>
        <p:spPr>
          <a:xfrm>
            <a:off x="611125" y="3060000"/>
            <a:ext cx="967800" cy="739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611125" y="3212250"/>
            <a:ext cx="967800" cy="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Blackbox  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G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2818750" y="2005375"/>
            <a:ext cx="663300" cy="68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2802288" y="3016500"/>
            <a:ext cx="663300" cy="68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715400" y="2111275"/>
            <a:ext cx="8700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Blackbox  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D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2698938" y="3122400"/>
            <a:ext cx="870000" cy="4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Blackbox  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      D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Obtained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(By GANS)</a:t>
            </a:r>
            <a:endParaRPr b="0"/>
          </a:p>
        </p:txBody>
      </p:sp>
      <p:pic>
        <p:nvPicPr>
          <p:cNvPr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02169"/>
            <a:ext cx="4452226" cy="3339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730000" y="1318650"/>
            <a:ext cx="36327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/>
              <a:t>02</a:t>
            </a:r>
            <a:br>
              <a:rPr b="0" lang="en" sz="3000"/>
            </a:br>
            <a:r>
              <a:rPr b="0" lang="en"/>
              <a:t>LSGANS</a:t>
            </a:r>
            <a:endParaRPr sz="3000"/>
          </a:p>
        </p:txBody>
      </p:sp>
      <p:sp>
        <p:nvSpPr>
          <p:cNvPr id="177" name="Google Shape;177;p22"/>
          <p:cNvSpPr txBox="1"/>
          <p:nvPr>
            <p:ph idx="1" type="subTitle"/>
          </p:nvPr>
        </p:nvSpPr>
        <p:spPr>
          <a:xfrm>
            <a:off x="4900625" y="1062975"/>
            <a:ext cx="4105500" cy="34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Why GANS are giving poor results?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Vanishing gradients due to binary cross entropy loss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What is the difference between GANS and LSGANS?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Uses least square loss function instead of BCE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Why should we use LSGANS?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Faster convergence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More realistic and high quality images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Stronger and more stable gradient </a:t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Obtained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(By LSGANS)</a:t>
            </a:r>
            <a:endParaRPr b="0"/>
          </a:p>
        </p:txBody>
      </p:sp>
      <p:pic>
        <p:nvPicPr>
          <p:cNvPr id="183" name="Google Shape;18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753719"/>
            <a:ext cx="4572000" cy="3429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>
            <p:ph type="title"/>
          </p:nvPr>
        </p:nvSpPr>
        <p:spPr>
          <a:xfrm>
            <a:off x="730000" y="1318650"/>
            <a:ext cx="36327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/>
              <a:t>0</a:t>
            </a:r>
            <a:r>
              <a:rPr b="0" lang="en"/>
              <a:t>3</a:t>
            </a:r>
            <a:br>
              <a:rPr b="0" lang="en" sz="3000"/>
            </a:br>
            <a:r>
              <a:rPr b="0" lang="en" sz="3000"/>
              <a:t>D</a:t>
            </a:r>
            <a:r>
              <a:rPr b="0" lang="en"/>
              <a:t>CGANS to rescue</a:t>
            </a:r>
            <a:endParaRPr sz="3000"/>
          </a:p>
        </p:txBody>
      </p:sp>
      <p:sp>
        <p:nvSpPr>
          <p:cNvPr id="189" name="Google Shape;189;p24"/>
          <p:cNvSpPr txBox="1"/>
          <p:nvPr>
            <p:ph idx="1" type="subTitle"/>
          </p:nvPr>
        </p:nvSpPr>
        <p:spPr>
          <a:xfrm>
            <a:off x="4900625" y="1062975"/>
            <a:ext cx="4105500" cy="38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Why LSGANS are giving poor results?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Same with GAN </a:t>
            </a:r>
            <a:r>
              <a:rPr lang="en" sz="1300"/>
              <a:t>architecture</a:t>
            </a:r>
            <a:r>
              <a:rPr lang="en" sz="1300"/>
              <a:t> except the loss function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Not engineered for image generation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What is the difference between GANS and DCGANS?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Architecture of DCGANS uses  transposed convolutions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The descriminator uses strided convulution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Why should we use LSGANS?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No fully connected layers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Specialised </a:t>
            </a:r>
            <a:r>
              <a:rPr lang="en" sz="1300"/>
              <a:t>architecture</a:t>
            </a:r>
            <a:r>
              <a:rPr lang="en" sz="1300"/>
              <a:t> for images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Better feature learning </a:t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Obtained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(By DCGANS)</a:t>
            </a:r>
            <a:endParaRPr b="0"/>
          </a:p>
        </p:txBody>
      </p:sp>
      <p:pic>
        <p:nvPicPr>
          <p:cNvPr id="195" name="Google Shape;1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99094"/>
            <a:ext cx="4517475" cy="3388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"/>
          <p:cNvSpPr txBox="1"/>
          <p:nvPr>
            <p:ph type="title"/>
          </p:nvPr>
        </p:nvSpPr>
        <p:spPr>
          <a:xfrm>
            <a:off x="730000" y="1318650"/>
            <a:ext cx="33009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</a:t>
            </a:r>
            <a:endParaRPr/>
          </a:p>
        </p:txBody>
      </p:sp>
      <p:sp>
        <p:nvSpPr>
          <p:cNvPr id="201" name="Google Shape;201;p26"/>
          <p:cNvSpPr txBox="1"/>
          <p:nvPr>
            <p:ph idx="1" type="subTitle"/>
          </p:nvPr>
        </p:nvSpPr>
        <p:spPr>
          <a:xfrm>
            <a:off x="5031150" y="1318650"/>
            <a:ext cx="3898800" cy="29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/>
              <a:t>How can we ensure  stable gradient Decent?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Answer: using WGANS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300"/>
              <a:t>What are WGANS?</a:t>
            </a:r>
            <a:endParaRPr b="1"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Instead of classifying as real/fake, penalise how far are the two distributions (Earth mover distance)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Instead of descriminator, uses a </a:t>
            </a:r>
            <a:r>
              <a:rPr lang="en" sz="1300"/>
              <a:t>critic</a:t>
            </a:r>
            <a:r>
              <a:rPr lang="en" sz="1300"/>
              <a:t> which acts like 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Formulations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07" name="Google Shape;207;p27"/>
          <p:cNvSpPr txBox="1"/>
          <p:nvPr>
            <p:ph idx="2" type="body"/>
          </p:nvPr>
        </p:nvSpPr>
        <p:spPr>
          <a:xfrm>
            <a:off x="4754200" y="123975"/>
            <a:ext cx="39909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Wasserstein GAN (WGAN) Objective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/>
              <a:t>Where: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	</a:t>
            </a:r>
            <a:r>
              <a:rPr lang="en" sz="1100"/>
              <a:t>Pr= probability of real data distribution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/>
              <a:t>	Pg= generator distribution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/>
              <a:t>	f = 1-Lipschitz function (approximated by the  discriminator)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WGAN Adversarial Loss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/>
              <a:t>Where z =  </a:t>
            </a:r>
            <a:r>
              <a:rPr lang="en" sz="1100"/>
              <a:t>the</a:t>
            </a:r>
            <a:r>
              <a:rPr lang="en" sz="1100"/>
              <a:t> input noise from a prior</a:t>
            </a:r>
            <a:endParaRPr sz="1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WGAN Gradient Penalty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/>
              <a:t>Where: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/>
              <a:t>	x_bar = samples interpolated between real and generated data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/>
              <a:t>	lambda1 =  gradient penalty coefficient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100"/>
              <a:t>	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208" name="Google Shape;20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6822" y="536050"/>
            <a:ext cx="3638075" cy="4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5025" y="2680454"/>
            <a:ext cx="3300900" cy="276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4200" y="3746325"/>
            <a:ext cx="4228100" cy="27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Obtained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(optimizations)</a:t>
            </a:r>
            <a:endParaRPr b="0"/>
          </a:p>
        </p:txBody>
      </p:sp>
      <p:pic>
        <p:nvPicPr>
          <p:cNvPr id="216" name="Google Shape;21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541100"/>
            <a:ext cx="4373800" cy="437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729450" y="1322450"/>
            <a:ext cx="7688400" cy="7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</a:t>
            </a:r>
            <a:r>
              <a:rPr lang="en"/>
              <a:t> Challenges &amp; Improvement</a:t>
            </a:r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729450" y="2407550"/>
            <a:ext cx="6134400" cy="22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Training Efficiency</a:t>
            </a:r>
            <a:r>
              <a:rPr lang="en" sz="1100"/>
              <a:t>:</a:t>
            </a:r>
            <a:br>
              <a:rPr lang="en" sz="1100"/>
            </a:br>
            <a:r>
              <a:rPr lang="en" sz="1100"/>
              <a:t> While WGANs successfully capture nuclear morphology and shape with high fidelity, </a:t>
            </a:r>
            <a:r>
              <a:rPr b="1" lang="en" sz="1100"/>
              <a:t>gradient descent is computationally expensive</a:t>
            </a:r>
            <a:r>
              <a:rPr lang="en" sz="1100"/>
              <a:t> and slow to converge. Future improvements could focus on </a:t>
            </a:r>
            <a:r>
              <a:rPr b="1" lang="en" sz="1100"/>
              <a:t>optimizing training speed and resource efficiency</a:t>
            </a:r>
            <a:r>
              <a:rPr lang="en" sz="1100"/>
              <a:t> without sacrificing quality.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Incorporating InfoGANs for Disentanglement</a:t>
            </a:r>
            <a:r>
              <a:rPr lang="en" sz="1100"/>
              <a:t>:</a:t>
            </a:r>
            <a:br>
              <a:rPr lang="en" sz="1100"/>
            </a:br>
            <a:r>
              <a:rPr lang="en" sz="1100"/>
              <a:t> To address both convergence and interpretability, </a:t>
            </a:r>
            <a:r>
              <a:rPr b="1" lang="en" sz="1100"/>
              <a:t>InfoGANs</a:t>
            </a:r>
            <a:r>
              <a:rPr lang="en" sz="1100"/>
              <a:t> offer a promising direction. They enhance GANs by introducing </a:t>
            </a:r>
            <a:r>
              <a:rPr b="1" lang="en" sz="1100"/>
              <a:t>latent code variables</a:t>
            </a:r>
            <a:r>
              <a:rPr lang="en" sz="1100"/>
              <a:t> and </a:t>
            </a:r>
            <a:r>
              <a:rPr b="1" lang="en" sz="1100"/>
              <a:t>mutual information maximization</a:t>
            </a:r>
            <a:r>
              <a:rPr lang="en" sz="1100"/>
              <a:t>, allowing the model to </a:t>
            </a:r>
            <a:r>
              <a:rPr b="1" lang="en" sz="1100"/>
              <a:t>learn interpretable and disentangled representations</a:t>
            </a:r>
            <a:r>
              <a:rPr lang="en" sz="1100"/>
              <a:t> (e.g., shape, orientation, or texture of nuclei). This could lead to better </a:t>
            </a:r>
            <a:r>
              <a:rPr b="1" lang="en" sz="1100"/>
              <a:t>controllable generation</a:t>
            </a:r>
            <a:r>
              <a:rPr lang="en" sz="1100"/>
              <a:t> and biologically meaningful insights.</a:t>
            </a:r>
            <a:endParaRPr sz="11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AutoNum type="arabicPeriod"/>
            </a:pPr>
            <a:r>
              <a:rPr lang="en">
                <a:solidFill>
                  <a:schemeClr val="accent5"/>
                </a:solidFill>
              </a:rPr>
              <a:t>https://paperswithcode.com/paper/unsupervised-learning-for-cell-level-visual</a:t>
            </a:r>
            <a:endParaRPr>
              <a:solidFill>
                <a:schemeClr val="accent5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AutoNum type="arabicPeriod"/>
            </a:pPr>
            <a:r>
              <a:rPr lang="en">
                <a:solidFill>
                  <a:schemeClr val="accent5"/>
                </a:solidFill>
              </a:rPr>
              <a:t>Medical Image Computing (CS736) by Prof Suyash Awate, lecture Slides</a:t>
            </a:r>
            <a:endParaRPr>
              <a:solidFill>
                <a:schemeClr val="accent5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"/>
              <a:buAutoNum type="arabicPeriod"/>
            </a:pPr>
            <a:r>
              <a:rPr lang="en">
                <a:solidFill>
                  <a:schemeClr val="accent5"/>
                </a:solidFill>
              </a:rPr>
              <a:t>Pattern Recognisation and Machine Learning by Bishop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/>
          <p:nvPr>
            <p:ph type="title"/>
          </p:nvPr>
        </p:nvSpPr>
        <p:spPr>
          <a:xfrm>
            <a:off x="2331300" y="1484700"/>
            <a:ext cx="4481400" cy="21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THANK YOU !!</a:t>
            </a:r>
            <a:endParaRPr b="0"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